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media/image1.jpeg" ContentType="image/jpe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3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" name="Group 18"/>
          <p:cNvGrpSpPr/>
          <p:nvPr/>
        </p:nvGrpSpPr>
        <p:grpSpPr>
          <a:xfrm>
            <a:off x="546120" y="-4680"/>
            <a:ext cx="5014440" cy="6862320"/>
            <a:chOff x="546120" y="-4680"/>
            <a:chExt cx="5014440" cy="6862320"/>
          </a:xfrm>
        </p:grpSpPr>
        <p:sp>
          <p:nvSpPr>
            <p:cNvPr id="10" name="Freeform 6"/>
            <p:cNvSpPr/>
            <p:nvPr/>
          </p:nvSpPr>
          <p:spPr>
            <a:xfrm>
              <a:off x="984240" y="-4680"/>
              <a:ext cx="1063440" cy="2782440"/>
            </a:xfrm>
            <a:custGeom>
              <a:avLst/>
              <a:gdLst>
                <a:gd name="textAreaLeft" fmla="*/ 0 w 1063440"/>
                <a:gd name="textAreaRight" fmla="*/ 1063800 w 1063440"/>
                <a:gd name="textAreaTop" fmla="*/ 0 h 2782440"/>
                <a:gd name="textAreaBottom" fmla="*/ 2782800 h 2782440"/>
              </a:gdLst>
              <a:ahLst/>
              <a:cxnLst/>
              <a:rect l="textAreaLeft" t="textAreaTop" r="textAreaRight" b="textAreaBottom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7"/>
            <p:cNvSpPr/>
            <p:nvPr/>
          </p:nvSpPr>
          <p:spPr>
            <a:xfrm>
              <a:off x="546120" y="-4680"/>
              <a:ext cx="1034640" cy="2673000"/>
            </a:xfrm>
            <a:custGeom>
              <a:avLst/>
              <a:gdLst>
                <a:gd name="textAreaLeft" fmla="*/ 0 w 1034640"/>
                <a:gd name="textAreaRight" fmla="*/ 1035000 w 1034640"/>
                <a:gd name="textAreaTop" fmla="*/ 0 h 2673000"/>
                <a:gd name="textAreaBottom" fmla="*/ 2673360 h 2673000"/>
              </a:gdLst>
              <a:ahLst/>
              <a:cxnLst/>
              <a:rect l="textAreaLeft" t="textAreaTop" r="textAreaRight" b="textAreaBottom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9"/>
            <p:cNvSpPr/>
            <p:nvPr/>
          </p:nvSpPr>
          <p:spPr>
            <a:xfrm>
              <a:off x="546120" y="2583000"/>
              <a:ext cx="2693520" cy="4274640"/>
            </a:xfrm>
            <a:custGeom>
              <a:avLst/>
              <a:gdLst>
                <a:gd name="textAreaLeft" fmla="*/ 0 w 2693520"/>
                <a:gd name="textAreaRight" fmla="*/ 2693880 w 2693520"/>
                <a:gd name="textAreaTop" fmla="*/ 0 h 4274640"/>
                <a:gd name="textAreaBottom" fmla="*/ 4275000 h 4274640"/>
              </a:gdLst>
              <a:ahLst/>
              <a:cxnLst/>
              <a:rect l="textAreaLeft" t="textAreaTop" r="textAreaRight" b="textAreaBottom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Freeform 10"/>
            <p:cNvSpPr/>
            <p:nvPr/>
          </p:nvSpPr>
          <p:spPr>
            <a:xfrm>
              <a:off x="988920" y="2692440"/>
              <a:ext cx="3331800" cy="4165200"/>
            </a:xfrm>
            <a:custGeom>
              <a:avLst/>
              <a:gdLst>
                <a:gd name="textAreaLeft" fmla="*/ 0 w 3331800"/>
                <a:gd name="textAreaRight" fmla="*/ 3332160 w 3331800"/>
                <a:gd name="textAreaTop" fmla="*/ 0 h 4165200"/>
                <a:gd name="textAreaBottom" fmla="*/ 4165560 h 4165200"/>
              </a:gdLst>
              <a:ahLst/>
              <a:cxnLst/>
              <a:rect l="textAreaLeft" t="textAreaTop" r="textAreaRight" b="textAreaBottom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Freeform 11"/>
            <p:cNvSpPr/>
            <p:nvPr/>
          </p:nvSpPr>
          <p:spPr>
            <a:xfrm>
              <a:off x="984240" y="2687760"/>
              <a:ext cx="4576320" cy="4169880"/>
            </a:xfrm>
            <a:custGeom>
              <a:avLst/>
              <a:gdLst>
                <a:gd name="textAreaLeft" fmla="*/ 0 w 4576320"/>
                <a:gd name="textAreaRight" fmla="*/ 4576680 w 4576320"/>
                <a:gd name="textAreaTop" fmla="*/ 0 h 4169880"/>
                <a:gd name="textAreaBottom" fmla="*/ 4170240 h 4169880"/>
              </a:gdLst>
              <a:ahLst/>
              <a:cxnLst/>
              <a:rect l="textAreaLeft" t="textAreaTop" r="textAreaRight" b="textAreaBottom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Freeform 12"/>
            <p:cNvSpPr/>
            <p:nvPr/>
          </p:nvSpPr>
          <p:spPr>
            <a:xfrm>
              <a:off x="546120" y="2577960"/>
              <a:ext cx="3584160" cy="4279680"/>
            </a:xfrm>
            <a:custGeom>
              <a:avLst/>
              <a:gdLst>
                <a:gd name="textAreaLeft" fmla="*/ 0 w 3584160"/>
                <a:gd name="textAreaRight" fmla="*/ 3584520 w 3584160"/>
                <a:gd name="textAreaTop" fmla="*/ 0 h 4279680"/>
                <a:gd name="textAreaBottom" fmla="*/ 4280040 h 4279680"/>
              </a:gdLst>
              <a:ahLst/>
              <a:cxnLst/>
              <a:rect l="textAreaLeft" t="textAreaTop" r="textAreaRight" b="textAreaBottom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928240" y="1380240"/>
            <a:ext cx="8574120" cy="261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5332320" y="5883120"/>
            <a:ext cx="4323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DBFEF9-08E5-4EF0-A9A1-4940A495D79E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22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484280" y="4732920"/>
            <a:ext cx="10018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2386080" y="932040"/>
            <a:ext cx="8225640" cy="31647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484280" y="5299560"/>
            <a:ext cx="1001844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4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5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6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0110BA-3033-47EE-847B-107F5B19553C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35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30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484280" y="4343400"/>
            <a:ext cx="1001844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7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8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9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58C761-135F-4166-BD62-2D4C90CE7134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47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TextBox 13"/>
          <p:cNvSpPr/>
          <p:nvPr/>
        </p:nvSpPr>
        <p:spPr>
          <a:xfrm>
            <a:off x="1598760" y="8629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orbel"/>
              </a:rPr>
              <a:t>“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14"/>
          <p:cNvSpPr/>
          <p:nvPr/>
        </p:nvSpPr>
        <p:spPr>
          <a:xfrm>
            <a:off x="10893600" y="28195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orbel"/>
              </a:rPr>
              <a:t>”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08240" y="685800"/>
            <a:ext cx="898956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436840" y="3429000"/>
            <a:ext cx="853236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484280" y="4343400"/>
            <a:ext cx="1001844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0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1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2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40D95E-4416-4004-A314-02CAD1AF4752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62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84280" y="3308760"/>
            <a:ext cx="1001844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484280" y="4777560"/>
            <a:ext cx="10018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13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14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15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B23802-FCA5-4355-8068-2CD044B4A57D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74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3"/>
          <p:cNvSpPr/>
          <p:nvPr/>
        </p:nvSpPr>
        <p:spPr>
          <a:xfrm>
            <a:off x="1598760" y="8629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orbel"/>
              </a:rPr>
              <a:t>“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10893600" y="28195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orbel"/>
              </a:rPr>
              <a:t>”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08240" y="685800"/>
            <a:ext cx="898956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484280" y="3886200"/>
            <a:ext cx="10018440" cy="88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484280" y="4775040"/>
            <a:ext cx="10018440" cy="101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6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17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18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F2F868-3DDC-4329-8395-60FC3DC64EA1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89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272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1484280" y="3505320"/>
            <a:ext cx="1001844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1484280" y="4343400"/>
            <a:ext cx="1001844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19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20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21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875295-6D03-4879-A603-FB9D24C4981C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02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22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23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24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B0625C-FD4D-4811-837E-2D5C5364BC84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14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732600" y="685800"/>
            <a:ext cx="177012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1484280" y="685800"/>
            <a:ext cx="801936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5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26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27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746651-B7D5-489A-BE3D-579B95EBC75B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26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8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29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30"/>
          </p:nvPr>
        </p:nvSpPr>
        <p:spPr>
          <a:xfrm>
            <a:off x="10951920" y="586728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E59F42-AD12-4735-9BDB-B8E300613B8B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38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572200" y="2666880"/>
            <a:ext cx="8930520" cy="210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2572200" y="4777560"/>
            <a:ext cx="893052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1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ftr" idx="32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sldNum" idx="33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59ADC6-D37D-4D06-847F-A633F37C828A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50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1484280" y="2666880"/>
            <a:ext cx="48945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607800" y="2666880"/>
            <a:ext cx="48945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34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ftr" idx="35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6"/>
          <p:cNvSpPr>
            <a:spLocks noGrp="1"/>
          </p:cNvSpPr>
          <p:nvPr>
            <p:ph type="sldNum" idx="36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9BD043-876A-4795-B853-988A713FD13D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63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1772280" y="2658600"/>
            <a:ext cx="46069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1484280" y="3335400"/>
            <a:ext cx="4894560" cy="245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6880320" y="2666880"/>
            <a:ext cx="4622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6607800" y="3335400"/>
            <a:ext cx="4894560" cy="245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dt" idx="37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7"/>
          <p:cNvSpPr>
            <a:spLocks noGrp="1"/>
          </p:cNvSpPr>
          <p:nvPr>
            <p:ph type="ftr" idx="38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8"/>
          <p:cNvSpPr>
            <a:spLocks noGrp="1"/>
          </p:cNvSpPr>
          <p:nvPr>
            <p:ph type="sldNum" idx="39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045E68-E9E4-4DEF-B6F7-A3D66AB27F56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78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dt" idx="40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ftr" idx="41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sldNum" idx="42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429C45-6197-4B54-92C9-B8D7B64485DA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89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dt" idx="43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ftr" idx="44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5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5129ED-F4DE-419C-9CD1-EC1FD0E06807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199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484280" y="1600200"/>
            <a:ext cx="3548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262120" y="685800"/>
            <a:ext cx="624060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1484280" y="2971800"/>
            <a:ext cx="354888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46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47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sldNum" idx="48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F7B560-C342-44C2-9A60-871D16646E2B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6"/>
          <p:cNvGrpSpPr/>
          <p:nvPr/>
        </p:nvGrpSpPr>
        <p:grpSpPr>
          <a:xfrm>
            <a:off x="150840" y="0"/>
            <a:ext cx="2436480" cy="6857640"/>
            <a:chOff x="150840" y="0"/>
            <a:chExt cx="2436480" cy="6857640"/>
          </a:xfrm>
        </p:grpSpPr>
        <p:sp>
          <p:nvSpPr>
            <p:cNvPr id="212" name="Freeform 6"/>
            <p:cNvSpPr/>
            <p:nvPr/>
          </p:nvSpPr>
          <p:spPr>
            <a:xfrm>
              <a:off x="457200" y="0"/>
              <a:ext cx="1122120" cy="5328720"/>
            </a:xfrm>
            <a:custGeom>
              <a:avLst/>
              <a:gdLst>
                <a:gd name="textAreaLeft" fmla="*/ 0 w 1122120"/>
                <a:gd name="textAreaRight" fmla="*/ 1122480 w 1122120"/>
                <a:gd name="textAreaTop" fmla="*/ 0 h 5328720"/>
                <a:gd name="textAreaBottom" fmla="*/ 5329080 h 5328720"/>
              </a:gdLst>
              <a:ahLst/>
              <a:cxnLst/>
              <a:rect l="textAreaLeft" t="textAreaTop" r="textAreaRight" b="textAreaBottom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7"/>
            <p:cNvSpPr/>
            <p:nvPr/>
          </p:nvSpPr>
          <p:spPr>
            <a:xfrm>
              <a:off x="150840" y="0"/>
              <a:ext cx="1117080" cy="5276520"/>
            </a:xfrm>
            <a:custGeom>
              <a:avLst/>
              <a:gdLst>
                <a:gd name="textAreaLeft" fmla="*/ 0 w 1117080"/>
                <a:gd name="textAreaRight" fmla="*/ 1117440 w 1117080"/>
                <a:gd name="textAreaTop" fmla="*/ 0 h 5276520"/>
                <a:gd name="textAreaBottom" fmla="*/ 5276880 h 5276520"/>
              </a:gdLst>
              <a:ahLst/>
              <a:cxnLst/>
              <a:rect l="textAreaLeft" t="textAreaTop" r="textAreaRight" b="textAreaBottom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8"/>
            <p:cNvSpPr/>
            <p:nvPr/>
          </p:nvSpPr>
          <p:spPr>
            <a:xfrm>
              <a:off x="150840" y="5238720"/>
              <a:ext cx="1228320" cy="1618920"/>
            </a:xfrm>
            <a:custGeom>
              <a:avLst/>
              <a:gdLst>
                <a:gd name="textAreaLeft" fmla="*/ 0 w 1228320"/>
                <a:gd name="textAreaRight" fmla="*/ 1228680 w 122832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Freeform 9"/>
            <p:cNvSpPr/>
            <p:nvPr/>
          </p:nvSpPr>
          <p:spPr>
            <a:xfrm>
              <a:off x="457200" y="5291280"/>
              <a:ext cx="1495080" cy="1566360"/>
            </a:xfrm>
            <a:custGeom>
              <a:avLst/>
              <a:gdLst>
                <a:gd name="textAreaLeft" fmla="*/ 0 w 1495080"/>
                <a:gd name="textAreaRight" fmla="*/ 1495440 w 1495080"/>
                <a:gd name="textAreaTop" fmla="*/ 0 h 1566360"/>
                <a:gd name="textAreaBottom" fmla="*/ 1566720 h 1566360"/>
              </a:gdLst>
              <a:ahLst/>
              <a:cxnLst/>
              <a:rect l="textAreaLeft" t="textAreaTop" r="textAreaRight" b="textAreaBottom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10"/>
            <p:cNvSpPr/>
            <p:nvPr/>
          </p:nvSpPr>
          <p:spPr>
            <a:xfrm>
              <a:off x="457200" y="5286240"/>
              <a:ext cx="2130120" cy="1571400"/>
            </a:xfrm>
            <a:custGeom>
              <a:avLst/>
              <a:gdLst>
                <a:gd name="textAreaLeft" fmla="*/ 0 w 2130120"/>
                <a:gd name="textAreaRight" fmla="*/ 2130480 w 2130120"/>
                <a:gd name="textAreaTop" fmla="*/ 0 h 1571400"/>
                <a:gd name="textAreaBottom" fmla="*/ 1571760 h 1571400"/>
              </a:gdLst>
              <a:ahLst/>
              <a:cxnLst/>
              <a:rect l="textAreaLeft" t="textAreaTop" r="textAreaRight" b="textAreaBottom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11"/>
            <p:cNvSpPr/>
            <p:nvPr/>
          </p:nvSpPr>
          <p:spPr>
            <a:xfrm>
              <a:off x="150840" y="5238720"/>
              <a:ext cx="1695240" cy="1618920"/>
            </a:xfrm>
            <a:custGeom>
              <a:avLst/>
              <a:gdLst>
                <a:gd name="textAreaLeft" fmla="*/ 0 w 1695240"/>
                <a:gd name="textAreaRight" fmla="*/ 1695600 w 1695240"/>
                <a:gd name="textAreaTop" fmla="*/ 0 h 1618920"/>
                <a:gd name="textAreaBottom" fmla="*/ 1619280 h 1618920"/>
              </a:gdLst>
              <a:ahLst/>
              <a:cxnLst/>
              <a:rect l="textAreaLeft" t="textAreaTop" r="textAreaRight" b="textAreaBottom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482840" y="1752480"/>
            <a:ext cx="542592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94560" y="914400"/>
            <a:ext cx="3280680" cy="457164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1482840" y="3124080"/>
            <a:ext cx="54259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49"/>
          </p:nvPr>
        </p:nvSpPr>
        <p:spPr>
          <a:xfrm>
            <a:off x="97326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50"/>
          </p:nvPr>
        </p:nvSpPr>
        <p:spPr>
          <a:xfrm>
            <a:off x="257220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51"/>
          </p:nvPr>
        </p:nvSpPr>
        <p:spPr>
          <a:xfrm>
            <a:off x="1095192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83D1A3-AF1F-48E2-87E9-5392BC1525EB}" type="slidenum">
              <a:rPr b="0" lang="en-IN" sz="1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928240" y="1380240"/>
            <a:ext cx="8574120" cy="261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IN" sz="6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GENERATIVE FORECAST EXPLANATION SYSTEM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4515480" y="3996360"/>
            <a:ext cx="6987240" cy="138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IN" sz="21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By- Anithra E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Project Overview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27" name="TextBox 27"/>
          <p:cNvSpPr/>
          <p:nvPr/>
        </p:nvSpPr>
        <p:spPr>
          <a:xfrm>
            <a:off x="1278360" y="2060280"/>
            <a:ext cx="10854000" cy="39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Project Overview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Title: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Generative Forecast Explanation System using Prophet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Developed a sales forecasting system using the Rossmann Store Sales dataset.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Combined time-series forecasting with a natural-language explanation engine.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Built an interactive interface using Streamlit.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Goal: Predict future sales and also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explain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why the sales increase or decrease.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Problem statement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Traditional forecasting models give numerical predictions but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lack interpretability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Business stakeholders want to know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why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sales are rising or falling.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Retail sales show complex patterns: promotions, holidays, trends, and weekly cycles.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Need a system that provides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accurate forecasts + clear explanations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Aim: Build a transparent forecasting model that supports decision-making.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09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Dataset Description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1484280" y="1566360"/>
            <a:ext cx="10018440" cy="50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marL="2858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Source:</a:t>
            </a: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Rossmann Store Sales (Kaggle Competition)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Training samples:</a:t>
            </a: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~1 million rows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Store metadata:</a:t>
            </a: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1,115 stores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Key fields: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Date (ds)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Sales (y)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Customers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Promo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DayOfWeek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StoreType, Assortment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Competition Distance &amp; Promo intervals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83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4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Challenges: Missing values, store closures, outliers, inconsistent time gaps.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EDA Summary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484280" y="2483280"/>
            <a:ext cx="9964800" cy="301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Sales and Customer distributions are right-skewed.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Strong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weekly seasonality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(Sundays closed = low/zero sales).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Yearly seasonality around holidays.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Promotions significantly increase sales.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CompetitionDistance has wide variation.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Outliers identified and handled using the IQR method.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Missing values filled logically based on business rules.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Forecasting Approach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Model Used: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Prophet (Facebook’s time-series model)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Models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trend + weekly seasonality + yearly seasonality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Handles missing dates, holidays, and outliers well.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Works directly with “ds” and “y” format.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Fitted on aggregated daily sales.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Future dates generated using Prophet’s built-in forecasting engine.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 horizon adjustable (30–365 days).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 output &amp; Visualisation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1761120" y="2353320"/>
            <a:ext cx="8569080" cy="397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Line plot showing predicted sales vs historical sales.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Component plots for: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Trend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Weekly pattern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Yearly pattern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Helps identify seasonal peaks and dips.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 performance measured using: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MAE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MSE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RMSE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Explanation Engine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1650600" y="2132640"/>
            <a:ext cx="12022560" cy="3449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After forecasting, Prophet outputs: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Trend component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Weekly effect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Yearly effect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A custom logic engine interprets these components.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Generates human-like explanations such as:</a:t>
            </a:r>
            <a:br>
              <a:rPr sz="2400"/>
            </a:b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“Sales are expected to rise due to strong weekend demand and an upward trend.”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Makes results understandable for non-technical users.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“WHY Chatbot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834560" y="1994040"/>
            <a:ext cx="11483640" cy="431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Users can ask: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“Why were sales low on 2015-07-10?”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The chatbot extracts the date, retrieves forecast components, and generates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a clear explanation.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Factors considered: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Differences between predicted vs actual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Promo status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Customer traffic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Weekly effect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Yearly effect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Delivers smart, date-specific insights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Benchmarking 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1312200" y="2133720"/>
            <a:ext cx="10190160" cy="44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What I Benchmarked: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Data Preprocessing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EDA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Prophet Forecasting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Actual vs Forecast Merge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WHY Chatbot Reasoning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Key Findings: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Forecasting &amp; EDA took the most time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Preprocessing, merging &amp; chatbot were fast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Results stored in </a:t>
            </a:r>
            <a:r>
              <a:rPr b="0" i="1" lang="en-IN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benchmark_results.xlsx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Optimization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1414080" y="2226600"/>
            <a:ext cx="10241280" cy="394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Optimizations I Applied: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Loaded data only once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Vectorized EDA calculations (z-score, correlations)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Reduced Prophet seasonalities (weekly + yearly only)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Merged forecast &amp; actual only once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Lightweight chatbot logic with no reforecasting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Reduced heavy UI elements for faster rendering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Outcome: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Faster execution, smoother UI, and more efficient forecasting system.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IN" sz="40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Conclusion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Successfully developed a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forecast + explanation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 system for retail sales.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Prophet delivered reliable, interpretable predictions.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Explanation engine improved transparency of results.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Streamlit app enabled interactive forecasts and “why” analysis.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Useful for planning promotions, staffing, inventory, and strategic decisions.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1287c3"/>
              </a:buClr>
              <a:buSzPct val="14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orbel"/>
              </a:rPr>
              <a:t>Future work: Add weather data, include store-level models, deploy as a full API.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orbe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 pitchFamily="0" charset="1"/>
        <a:ea typeface=""/>
        <a:cs typeface=""/>
      </a:majorFont>
      <a:minorFont>
        <a:latin typeface="Corbel" panose="020B0503020204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</TotalTime>
  <Application>LibreOffice/25.8.3.2$Windows_X86_64 LibreOffice_project/8ca8d55c161d602844f5428fa4b58097424e324e</Application>
  <AppVersion>15.0000</AppVersion>
  <Words>613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2025-11-25T07:37:38Z</dcterms:created>
  <dc:creator>Anithra Elango</dc:creator>
  <dc:description/>
  <dc:language>en-IN</dc:language>
  <cp:lastModifiedBy>Anithra Elango</cp:lastModifiedBy>
  <dcterms:modified xsi:type="dcterms:W3CDTF">2025-11-25T08:03:34Z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